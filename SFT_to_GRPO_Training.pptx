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65A82"/>
                </a:solidFill>
                <a:latin typeface="Arial"/>
              </a:rPr>
              <a:t>Win Rate Improvement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(%)</c:v>
                </c:pt>
              </c:strCache>
            </c:strRef>
          </c:tx>
          <c:spPr>
            <a:solidFill>
              <a:srgbClr val="02C39A"/>
            </a:solidFill>
            <a:effectLst>
              <a:outerShdw blurRad="101600" dist="38100" dir="8100000" algn="bl">
                <a:srgbClr val="000000">
                  <a:alpha val="10000"/>
                </a:srgb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
(Untrained)</c:v>
                </c:pt>
                <c:pt idx="1">
                  <c:v>After SFT</c:v>
                </c:pt>
                <c:pt idx="2">
                  <c:v>After GRPO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A8-4239-A4A7-BEB8FCFEA7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69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Minesweeper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 Minesweeper AI Agent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657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</a:rPr>
              <a:t>Teaching an AI to Play Minesweeper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01168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21945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Game Configuration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Board Size: 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6×6 grid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Number of Mines: 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5 mines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Challenge: 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Avoid mines, reveal all safe cells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754880" y="20116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2860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37760" y="21945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Initial Performance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Untrained Model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Win Rate: </a:t>
            </a:r>
            <a:r>
              <a:rPr lang="en-US" sz="1600" dirty="0">
                <a:solidFill>
                  <a:srgbClr val="DC2626"/>
                </a:solidFill>
              </a:rPr>
              <a:t>0%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Avg Moves Survived: </a:t>
            </a:r>
            <a:r>
              <a:rPr lang="en-US" sz="1600" dirty="0">
                <a:solidFill>
                  <a:srgbClr val="DC2626"/>
                </a:solidFill>
              </a:rPr>
              <a:t>1.7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Baseline: Random moves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Two-Stage Training Approach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137160" cy="32918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Stage 1: SFT</a:t>
            </a:r>
            <a:endParaRPr lang="en-US" sz="2800" dirty="0"/>
          </a:p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</a:rPr>
              <a:t>Supervised Fine-Tuning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
</a:t>
            </a:r>
            <a:endParaRPr lang="en-US" sz="2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Learn from Examples</a:t>
            </a:r>
            <a:endParaRPr lang="en-US" sz="28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Trained on expert gameplay</a:t>
            </a:r>
            <a:endParaRPr lang="en-US" sz="28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Learned basic strategies</a:t>
            </a:r>
            <a:endParaRPr lang="en-US" sz="28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Pattern recognition</a:t>
            </a:r>
            <a:endParaRPr lang="en-US" sz="28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Action formatting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0" y="2743200"/>
            <a:ext cx="731520" cy="365760"/>
          </a:xfrm>
          <a:prstGeom prst="right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0" y="1280160"/>
            <a:ext cx="4023360" cy="329184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0" y="1280160"/>
            <a:ext cx="137160" cy="32918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5544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0644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Stage 2: GRPO</a:t>
            </a:r>
            <a:endParaRPr lang="en-US" sz="2800" dirty="0"/>
          </a:p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</a:rPr>
              <a:t>Group Relative Policy Optimization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
</a:t>
            </a:r>
            <a:endParaRPr lang="en-US" sz="2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Learn from Experience</a:t>
            </a:r>
            <a:endParaRPr lang="en-US" sz="28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Play actual games</a:t>
            </a:r>
            <a:endParaRPr lang="en-US" sz="28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Reward successful moves</a:t>
            </a:r>
            <a:endParaRPr lang="en-US" sz="28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Penalize failures</a:t>
            </a:r>
            <a:endParaRPr lang="en-US" sz="28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Self-improvement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Supervised Fine-Tuning (SFT)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630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Training Method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
</a:t>
            </a:r>
            <a:endParaRPr lang="en-US" sz="2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Dataset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• Expert game trajectories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• State → Action pairs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• 234 training examples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• 26 validation examples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
</a:t>
            </a:r>
            <a:endParaRPr lang="en-US" sz="2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Model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• Qwen/Qwen2.5-0.5B-Instruct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• Efficient for quick iteration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4630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20640" y="14630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SFT Results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
</a:t>
            </a:r>
            <a:endParaRPr lang="en-US" sz="2200" dirty="0"/>
          </a:p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</a:rPr>
              <a:t>Win Rate: </a:t>
            </a:r>
            <a:r>
              <a:rPr lang="en-US" sz="2400" b="1" dirty="0">
                <a:solidFill>
                  <a:srgbClr val="059669"/>
                </a:solidFill>
              </a:rPr>
              <a:t>10%</a:t>
            </a:r>
            <a:endParaRPr lang="en-US" sz="22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2 wins out of 20 games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
</a:t>
            </a:r>
            <a:endParaRPr lang="en-US" sz="2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Avg Moves Survived: </a:t>
            </a:r>
            <a:r>
              <a:rPr lang="en-US" sz="1800" b="1" dirty="0">
                <a:solidFill>
                  <a:srgbClr val="059669"/>
                </a:solidFill>
              </a:rPr>
              <a:t>2.9</a:t>
            </a:r>
            <a:endParaRPr lang="en-US" sz="22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vs 1.7 baseline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
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✓ Learned valid moves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✓ Some strategic thinking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✓ Consistent improvement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SFT: First Wins! 🎉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From 0% to 10% Win Rate</a:t>
            </a:r>
            <a:endParaRPr lang="en-US" sz="3200" dirty="0"/>
          </a:p>
          <a:p>
            <a:pPr marL="0" indent="0">
              <a:buNone/>
            </a:pPr>
            <a:r>
              <a:rPr lang="en-US" sz="1800" dirty="0">
                <a:solidFill>
                  <a:srgbClr val="F5F5F5"/>
                </a:solidFill>
              </a:rPr>
              <a:t>The model learned to avoid immediate failures and execute basic strategies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274320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9260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</a:rPr>
              <a:t>What Worked ✓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Learned valid action format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Recognized safe patterns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Avoided obvious mistakes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Made logical first moves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Won 2 complete games!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0" y="29260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</a:rPr>
              <a:t>Limitations ⚠️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Only mimics training data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No exploration beyond examples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Can't learn from mistakes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Limited to supervised patterns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• Needs RL for optimization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GRPO Reinforcement Learning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Group Relative Policy Optimization</a:t>
            </a:r>
            <a:endParaRPr lang="en-US" sz="2400" dirty="0"/>
          </a:p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</a:rPr>
              <a:t>Learn by playing actual games and comparing different strategies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24688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46888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6974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1. Generate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Model plays multiple games using current policy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Creates diverse trajectories to explore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46120" y="24688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246888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26974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2. Evaluate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Calculate rewards based on outcomes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Compare relative performance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035040" y="24688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246888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26974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3. Update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Adjust policy to favor better strategies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Continuous self-improvement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SFT vs GRPO: Key Differences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Supervised Fine-Tuning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endParaRPr lang="en-US" sz="2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5F5F5"/>
                </a:solidFill>
              </a:rPr>
              <a:t>Learning Style</a:t>
            </a:r>
            <a:endParaRPr lang="en-US" sz="2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</a:rPr>
              <a:t>Student copying from textbook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Learns from expert examples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Imitates successful patterns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Limited to training data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No trial-and-error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Fast initial learning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Can plateau quickly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251960" y="25603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2519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VS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4023360" cy="338328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137160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GRPO (Reinforcement Learning)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endParaRPr lang="en-US" sz="2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5F5F5"/>
                </a:solidFill>
              </a:rPr>
              <a:t>Learning Style</a:t>
            </a:r>
            <a:endParaRPr lang="en-US" sz="2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</a:rPr>
              <a:t>Athlete improving through practice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Learns from experience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Explores new strategies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Gets feedback from results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Trial-and-error refinement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Continuous improvement</a:t>
            </a:r>
            <a:endParaRPr lang="en-US" sz="2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• Finds optimal solutions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Results Comparison</a:t>
            </a:r>
            <a:endParaRPr lang="en-US" sz="4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280160"/>
            <a:ext cx="2926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035040" y="146304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Key Metrics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Baseline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Win Rate: 0%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Avg Moves: 1.7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</a:rPr>
              <a:t>After SFT</a:t>
            </a:r>
            <a:endParaRPr lang="en-US" sz="20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Win Rate: 10% </a:t>
            </a:r>
            <a:r>
              <a:rPr lang="en-US" sz="1400" dirty="0">
                <a:solidFill>
                  <a:srgbClr val="059669"/>
                </a:solidFill>
              </a:rPr>
              <a:t>(+10%)</a:t>
            </a:r>
            <a:endParaRPr lang="en-US" sz="20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Avg Moves: 2.9 </a:t>
            </a:r>
            <a:r>
              <a:rPr lang="en-US" sz="1400" dirty="0">
                <a:solidFill>
                  <a:srgbClr val="059669"/>
                </a:solidFill>
              </a:rPr>
              <a:t>(+71%)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After GRPO</a:t>
            </a:r>
            <a:endParaRPr lang="en-US" sz="20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Training in progress...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SFT Provides Foundation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10% win rate shows model learned basic strategies from expert examples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GRPO Enables Optimization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Reinforcement learning allows the model to explore and improve beyond training data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Combination is Powerful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</a:rPr>
              <a:t>SFT → GRPO pipeline leverages both supervised learning and self-improvement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2C39A"/>
                </a:solidFill>
              </a:rPr>
              <a:t>Building smarter AI through iterative learning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517</Words>
  <Application>Microsoft Office PowerPoint</Application>
  <PresentationFormat>On-screen Show (16:9)</PresentationFormat>
  <Paragraphs>156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SFT to GRPO: Training a Minesweeper AI</dc:title>
  <dc:subject>PptxGenJS Presentation</dc:subject>
  <dc:creator>AI Training Team</dc:creator>
  <cp:lastModifiedBy>Pradeepto Pal</cp:lastModifiedBy>
  <cp:revision>2</cp:revision>
  <dcterms:created xsi:type="dcterms:W3CDTF">2026-02-15T07:05:51Z</dcterms:created>
  <dcterms:modified xsi:type="dcterms:W3CDTF">2026-02-15T07:29:58Z</dcterms:modified>
</cp:coreProperties>
</file>